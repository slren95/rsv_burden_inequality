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</p:sldIdLst>
  <p:sldSz cy="5143500" cx="9144000"/>
  <p:notesSz cx="6858000" cy="9144000"/>
  <p:embeddedFontLst>
    <p:embeddedFont>
      <p:font typeface="Corbel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193F43E-A5B3-4A80-A27C-DA40A6EB71B4}">
  <a:tblStyle styleId="{E193F43E-A5B3-4A80-A27C-DA40A6EB71B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Corbel-italic.fntdata"/><Relationship Id="rId10" Type="http://schemas.openxmlformats.org/officeDocument/2006/relationships/font" Target="fonts/Corbel-bold.fntdata"/><Relationship Id="rId12" Type="http://schemas.openxmlformats.org/officeDocument/2006/relationships/font" Target="fonts/Corbel-boldItalic.fntdata"/><Relationship Id="rId9" Type="http://schemas.openxmlformats.org/officeDocument/2006/relationships/font" Target="fonts/Corbel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dcffd73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dcffd7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0290dc2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0290dc2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4491" y="110118"/>
            <a:ext cx="90624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Global market authorizations of RSV immunization products to protect infants</a:t>
            </a:r>
            <a:endParaRPr sz="20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graphicFrame>
        <p:nvGraphicFramePr>
          <p:cNvPr id="56" name="Google Shape;56;p13"/>
          <p:cNvGraphicFramePr/>
          <p:nvPr/>
        </p:nvGraphicFramePr>
        <p:xfrm>
          <a:off x="4644648" y="112362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1333350"/>
                <a:gridCol w="1386775"/>
                <a:gridCol w="1386775"/>
              </a:tblGrid>
              <a:tr h="278550">
                <a:tc gridSpan="3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i="0" lang="en" sz="10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 b="0" i="0" sz="1000" u="none" strike="noStrike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hMerge="1"/>
                <a:tc hMerge="1"/>
              </a:tr>
              <a:tr h="135075"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 54 countries/regions</a:t>
                      </a:r>
                      <a:endParaRPr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 hMerge="1"/>
                <a:tc hMerge="1"/>
              </a:tr>
              <a:tr h="135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Argentina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Guam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Panama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Australia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China, Hong Kong SAR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Poland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Hungary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Portugal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Bahrain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Iceland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Romania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Belgium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Ireland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Saudi Arabia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Brazil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Israel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Singapore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Bulgaria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Italy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Slovakia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Canada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Japan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Slovenia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Chile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Kuwait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Spain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Croatia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Latvia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Sweden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Cyprus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Lichtenstein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Switzerland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Czech Republic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Lithuania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Chinese Tapei 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Denmark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Luxembourg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Thailand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Estonia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Macau SAR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Turkey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Finland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Malaysia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Arab Emirates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France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Malta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Kingdom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Germany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Netherlands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The United States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34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Greece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Norway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Uruguay</a:t>
                      </a:r>
                      <a:endParaRPr b="1" sz="800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7" name="Google Shape;57;p13"/>
          <p:cNvGraphicFramePr/>
          <p:nvPr/>
        </p:nvGraphicFramePr>
        <p:xfrm>
          <a:off x="300279" y="272318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1907225"/>
              </a:tblGrid>
              <a:tr h="278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i="0" lang="en" sz="10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MATERNAL VACCINATION</a:t>
                      </a:r>
                      <a:endParaRPr/>
                    </a:p>
                  </a:txBody>
                  <a:tcPr marT="16000" marB="16000" marR="24000" marL="2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</a:tr>
              <a:tr h="197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b="1" i="0" lang="en" sz="1000" u="none" strike="noStrike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1</a:t>
                      </a:r>
                      <a:r>
                        <a:rPr b="1"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4</a:t>
                      </a:r>
                      <a:r>
                        <a:rPr b="1" i="0" lang="en" sz="1000" u="none" strike="noStrike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 countries</a:t>
                      </a:r>
                      <a:endParaRPr/>
                    </a:p>
                  </a:txBody>
                  <a:tcPr marT="16000" marB="16000" marR="24000" marL="240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Belarus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Costa Rica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Dominican Republic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Egypt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El Salvador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Ghana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24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Indonesia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Mexico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03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New Caledonia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Oman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Pakistan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Peru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Philippines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Qatar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73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South Africa</a:t>
                      </a:r>
                      <a:endParaRPr/>
                    </a:p>
                  </a:txBody>
                  <a:tcPr marT="16000" marB="16000" marR="24000" marL="240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8" name="Google Shape;58;p13"/>
          <p:cNvGraphicFramePr/>
          <p:nvPr/>
        </p:nvGraphicFramePr>
        <p:xfrm>
          <a:off x="2479729" y="300279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1913400"/>
              </a:tblGrid>
              <a:tr h="2846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mAb</a:t>
                      </a:r>
                      <a:endParaRPr/>
                    </a:p>
                  </a:txBody>
                  <a:tcPr marT="15875" marB="15875" marR="23800" marL="23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</a:tr>
              <a:tr h="147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4 countries</a:t>
                      </a:r>
                      <a:endParaRPr/>
                    </a:p>
                  </a:txBody>
                  <a:tcPr marT="15875" marB="15875" marR="23800" marL="2380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7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China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53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India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47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Paraguay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Republic of Korea</a:t>
                      </a:r>
                      <a:endParaRPr/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3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767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Saba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5875" marB="15875" marR="23800" marL="2380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Google Shape;59;p13"/>
          <p:cNvGraphicFramePr/>
          <p:nvPr/>
        </p:nvGraphicFramePr>
        <p:xfrm>
          <a:off x="300280" y="963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{E193F43E-A5B3-4A80-A27C-DA40A6EB71B4}</a:tableStyleId>
              </a:tblPr>
              <a:tblGrid>
                <a:gridCol w="906525"/>
                <a:gridCol w="1615975"/>
                <a:gridCol w="1568525"/>
              </a:tblGrid>
              <a:tr h="406550">
                <a:tc rowSpan="2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Total countries per product</a:t>
                      </a:r>
                      <a:endParaRPr/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b="1" sz="12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</a:tr>
              <a:tr h="3650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69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59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331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1 product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15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</a:t>
                      </a:r>
                      <a:r>
                        <a:rPr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3209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10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 sz="1350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54 countries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60" name="Google Shape;60;p13"/>
          <p:cNvSpPr txBox="1"/>
          <p:nvPr/>
        </p:nvSpPr>
        <p:spPr>
          <a:xfrm>
            <a:off x="62042" y="532364"/>
            <a:ext cx="84537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A8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As of June 2025, </a:t>
            </a:r>
            <a:r>
              <a:rPr b="1" lang="en" sz="1600">
                <a:latin typeface="Corbel"/>
                <a:ea typeface="Corbel"/>
                <a:cs typeface="Corbel"/>
                <a:sym typeface="Corbel"/>
              </a:rPr>
              <a:t>74</a:t>
            </a:r>
            <a:r>
              <a:rPr b="1" i="0" lang="en" sz="1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countries/regions</a:t>
            </a: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 have regulatory approval for the maternal vaccination and mAb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115081" y="-6421"/>
            <a:ext cx="9015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Global introductions of RSV immunization products to protect infants</a:t>
            </a:r>
            <a:endParaRPr sz="2000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900">
                <a:solidFill>
                  <a:srgbClr val="888888"/>
                </a:solidFill>
              </a:rPr>
              <a:t>‹#›</a:t>
            </a:fld>
            <a:endParaRPr sz="900">
              <a:solidFill>
                <a:srgbClr val="888888"/>
              </a:solidFill>
            </a:endParaRPr>
          </a:p>
        </p:txBody>
      </p:sp>
      <p:graphicFrame>
        <p:nvGraphicFramePr>
          <p:cNvPr id="67" name="Google Shape;67;p14"/>
          <p:cNvGraphicFramePr/>
          <p:nvPr/>
        </p:nvGraphicFramePr>
        <p:xfrm>
          <a:off x="246152" y="215966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331875"/>
                <a:gridCol w="1598625"/>
                <a:gridCol w="1080675"/>
                <a:gridCol w="1654800"/>
              </a:tblGrid>
              <a:tr h="270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/>
                    </a:p>
                  </a:txBody>
                  <a:tcPr marT="19050" marB="19050" marR="28575" marL="2857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hMerge="1"/>
                <a:tc hMerge="1"/>
              </a:tr>
              <a:tr h="72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#</a:t>
                      </a:r>
                      <a:endParaRPr b="1" sz="800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Country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Primary Product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28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Australia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Belgium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3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Brazil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4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France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Guam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65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6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Italy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b="0" i="0" sz="800" u="none" strike="noStrike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7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Luxembourg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76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8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Switzerland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9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States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0" i="0" lang="en" sz="800" u="none" strike="noStrike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9050" marB="19050" marR="28575" marL="2857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8" name="Google Shape;68;p14"/>
          <p:cNvGraphicFramePr/>
          <p:nvPr/>
        </p:nvGraphicFramePr>
        <p:xfrm>
          <a:off x="5379552" y="3191678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310875"/>
                <a:gridCol w="1913775"/>
                <a:gridCol w="1270375"/>
              </a:tblGrid>
              <a:tr h="296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MATERNAL VACCINATION</a:t>
                      </a:r>
                      <a:endParaRPr/>
                    </a:p>
                  </a:txBody>
                  <a:tcPr marT="18400" marB="18400" marR="27625" marL="2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 hMerge="1"/>
              </a:tr>
              <a:tr h="93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#</a:t>
                      </a:r>
                      <a:endParaRPr b="1" sz="800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Country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Argentina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BF7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Costa Rica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3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Cyprus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4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Greece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Poland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6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New Caledonia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7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Slovenia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121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8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United Kingdom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BD6EE"/>
                    </a:solidFill>
                  </a:tcPr>
                </a:tc>
              </a:tr>
              <a:tr h="8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9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Uruguay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Google Shape;69;p14"/>
          <p:cNvGraphicFramePr/>
          <p:nvPr/>
        </p:nvGraphicFramePr>
        <p:xfrm>
          <a:off x="5384762" y="765056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304500"/>
                <a:gridCol w="1885450"/>
                <a:gridCol w="1294675"/>
              </a:tblGrid>
              <a:tr h="296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0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orbel"/>
                        <a:buNone/>
                      </a:pPr>
                      <a:r>
                        <a:rPr b="1" lang="en" sz="1000"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mAb</a:t>
                      </a:r>
                      <a:endParaRPr/>
                    </a:p>
                  </a:txBody>
                  <a:tcPr marT="18400" marB="18400" marR="27625" marL="27625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  <a:tc hMerge="1"/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#</a:t>
                      </a:r>
                      <a:endParaRPr sz="800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Country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Austria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Canada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3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Chile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4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Finland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5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Germany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6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Ireland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7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Japan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A5C4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8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Paraguay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9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Portugal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10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Saba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11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Spain</a:t>
                      </a:r>
                      <a:endParaRPr b="1" sz="135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Corbel"/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</a:t>
                      </a:r>
                      <a:endParaRPr/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26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12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Netherlands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2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 sz="800">
                        <a:solidFill>
                          <a:schemeClr val="dk1"/>
                        </a:solidFill>
                        <a:highlight>
                          <a:srgbClr val="FAA5C4"/>
                        </a:highlight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18400" marB="18400" marR="27625" marL="27625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A5C4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14"/>
          <p:cNvSpPr txBox="1"/>
          <p:nvPr/>
        </p:nvSpPr>
        <p:spPr>
          <a:xfrm>
            <a:off x="-692418" y="411309"/>
            <a:ext cx="8595600" cy="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34A8A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As of June 2025, </a:t>
            </a:r>
            <a:r>
              <a:rPr b="1" lang="en" sz="1600">
                <a:latin typeface="Corbel"/>
                <a:ea typeface="Corbel"/>
                <a:cs typeface="Corbel"/>
                <a:sym typeface="Corbel"/>
              </a:rPr>
              <a:t>30</a:t>
            </a:r>
            <a:r>
              <a:rPr b="1" i="0" lang="en" sz="16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 countries</a:t>
            </a: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 have introduced the maternal vaccination </a:t>
            </a:r>
            <a:r>
              <a:rPr b="1" i="0" lang="en" sz="1400" u="none" cap="none" strike="noStrik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and/or</a:t>
            </a:r>
            <a:r>
              <a:rPr b="1" i="0" lang="en" sz="1400" u="none" cap="none" strike="noStrike">
                <a:solidFill>
                  <a:srgbClr val="134A8A"/>
                </a:solidFill>
                <a:latin typeface="Corbel"/>
                <a:ea typeface="Corbel"/>
                <a:cs typeface="Corbel"/>
                <a:sym typeface="Corbel"/>
              </a:rPr>
              <a:t> the mAb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238432" y="4871367"/>
            <a:ext cx="46737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0" i="0" lang="en" sz="600" u="none" cap="none" strike="noStrike">
                <a:solidFill>
                  <a:srgbClr val="828282"/>
                </a:solidFill>
                <a:latin typeface="Corbel"/>
                <a:ea typeface="Corbel"/>
                <a:cs typeface="Corbel"/>
                <a:sym typeface="Corbel"/>
              </a:rPr>
              <a:t>*Disclaimer: "All infants" category used in this presentation encompasses varying age ranges depending on country-level introduction (e.g., &lt;6 months, &lt;8 months). For the purpose of simplification and consistency, all have been collectively categorized as "all infants."</a:t>
            </a:r>
            <a:endParaRPr/>
          </a:p>
        </p:txBody>
      </p:sp>
      <p:graphicFrame>
        <p:nvGraphicFramePr>
          <p:cNvPr id="72" name="Google Shape;72;p14"/>
          <p:cNvGraphicFramePr/>
          <p:nvPr/>
        </p:nvGraphicFramePr>
        <p:xfrm>
          <a:off x="1214409" y="4185071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{E193F43E-A5B3-4A80-A27C-DA40A6EB71B4}</a:tableStyleId>
              </a:tblPr>
              <a:tblGrid>
                <a:gridCol w="995900"/>
                <a:gridCol w="1609175"/>
              </a:tblGrid>
              <a:tr h="1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Product</a:t>
                      </a:r>
                      <a:endParaRPr/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Approach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 sz="600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Seasonal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BF7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 sz="600">
                        <a:solidFill>
                          <a:srgbClr val="000000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Year-round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DD7EE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All infants*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7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b="1"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/>
                    </a:p>
                  </a:txBody>
                  <a:tcPr marT="20100" marB="20100" marR="30150" marL="301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6366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Corbel"/>
                        <a:buNone/>
                      </a:pPr>
                      <a:r>
                        <a:rPr lang="en" sz="600">
                          <a:solidFill>
                            <a:srgbClr val="000000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High risk</a:t>
                      </a:r>
                      <a:endParaRPr/>
                    </a:p>
                  </a:txBody>
                  <a:tcPr marT="20100" marB="20100" marR="30150" marL="30150" anchor="b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A5C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" name="Google Shape;73;p14"/>
          <p:cNvGraphicFramePr/>
          <p:nvPr/>
        </p:nvGraphicFramePr>
        <p:xfrm>
          <a:off x="242292" y="8610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{E193F43E-A5B3-4A80-A27C-DA40A6EB71B4}</a:tableStyleId>
              </a:tblPr>
              <a:tblGrid>
                <a:gridCol w="1035650"/>
                <a:gridCol w="1846125"/>
                <a:gridCol w="1791925"/>
              </a:tblGrid>
              <a:tr h="100000">
                <a:tc rowSpan="2"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Total countries per product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b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Maternal Vaccination</a:t>
                      </a:r>
                      <a:endParaRPr sz="12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Corbel"/>
                          <a:ea typeface="Corbel"/>
                          <a:cs typeface="Corbel"/>
                          <a:sym typeface="Corbel"/>
                        </a:rPr>
                        <a:t>mAb</a:t>
                      </a:r>
                      <a:endParaRPr b="1" sz="12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71E62"/>
                    </a:solidFill>
                  </a:tcPr>
                </a:tc>
              </a:tr>
              <a:tr h="116500">
                <a:tc v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18 </a:t>
                      </a: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countries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21 countries</a:t>
                      </a:r>
                      <a:endParaRPr b="1"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Only 1 product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34A8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9 </a:t>
                      </a: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countries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12</a:t>
                      </a:r>
                      <a:r>
                        <a:rPr lang="en" sz="800">
                          <a:solidFill>
                            <a:schemeClr val="dk1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 countries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D0DF"/>
                    </a:solidFill>
                  </a:tcPr>
                </a:tc>
              </a:tr>
              <a:tr h="91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orbel"/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Both products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9</a:t>
                      </a:r>
                      <a:r>
                        <a:rPr b="1"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 countries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 hMerge="1"/>
              </a:tr>
              <a:tr h="1538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FFFF"/>
                          </a:solidFill>
                          <a:latin typeface="Corbel"/>
                          <a:ea typeface="Corbel"/>
                          <a:cs typeface="Corbel"/>
                          <a:sym typeface="Corbel"/>
                        </a:rPr>
                        <a:t>Primary</a:t>
                      </a:r>
                      <a:endParaRPr sz="800">
                        <a:solidFill>
                          <a:srgbClr val="FFFFFF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2 countries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orbel"/>
                          <a:ea typeface="Corbel"/>
                          <a:cs typeface="Corbel"/>
                          <a:sym typeface="Corbel"/>
                        </a:rPr>
                        <a:t>7 countries</a:t>
                      </a:r>
                      <a:endParaRPr sz="800"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1EF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