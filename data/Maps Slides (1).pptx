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Corbel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D081B9-3B03-4A44-8910-5B5960E8EA8A}">
  <a:tblStyle styleId="{C3D081B9-3B03-4A44-8910-5B5960E8EA8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Corbel-bold.fntdata"/><Relationship Id="rId10" Type="http://schemas.openxmlformats.org/officeDocument/2006/relationships/font" Target="fonts/Corbel-regular.fntdata"/><Relationship Id="rId13" Type="http://schemas.openxmlformats.org/officeDocument/2006/relationships/font" Target="fonts/Corbel-boldItalic.fntdata"/><Relationship Id="rId12" Type="http://schemas.openxmlformats.org/officeDocument/2006/relationships/font" Target="fonts/Corbel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0dcffd7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0dcffd7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0dcffd73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0dcffd7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888888"/>
                </a:solidFill>
              </a:rPr>
              <a:t>‹#›</a:t>
            </a:fld>
            <a:endParaRPr sz="900">
              <a:solidFill>
                <a:srgbClr val="888888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14547" y="39562"/>
            <a:ext cx="9062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Global market authorizations of RSV immunization products to protect infants</a:t>
            </a:r>
            <a:endParaRPr b="0" i="0" sz="20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56" name="Google Shape;56;p13" title="Map_RSV_product_licensures 2025-07-02 (2).png"/>
          <p:cNvPicPr preferRelativeResize="0"/>
          <p:nvPr/>
        </p:nvPicPr>
        <p:blipFill rotWithShape="1">
          <a:blip r:embed="rId3">
            <a:alphaModFix/>
          </a:blip>
          <a:srcRect b="0" l="0" r="0" t="12388"/>
          <a:stretch/>
        </p:blipFill>
        <p:spPr>
          <a:xfrm>
            <a:off x="0" y="582825"/>
            <a:ext cx="9144003" cy="4142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234491" y="110118"/>
            <a:ext cx="9062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Global market authorizations of RSV immunization products to protect infants</a:t>
            </a:r>
            <a:endParaRPr sz="20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888888"/>
                </a:solidFill>
              </a:rPr>
              <a:t>‹#›</a:t>
            </a:fld>
            <a:endParaRPr sz="900">
              <a:solidFill>
                <a:srgbClr val="888888"/>
              </a:solidFill>
            </a:endParaRPr>
          </a:p>
        </p:txBody>
      </p:sp>
      <p:graphicFrame>
        <p:nvGraphicFramePr>
          <p:cNvPr id="63" name="Google Shape;63;p14"/>
          <p:cNvGraphicFramePr/>
          <p:nvPr/>
        </p:nvGraphicFramePr>
        <p:xfrm>
          <a:off x="4644648" y="112362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{C3D081B9-3B03-4A44-8910-5B5960E8EA8A}</a:tableStyleId>
              </a:tblPr>
              <a:tblGrid>
                <a:gridCol w="1333350"/>
                <a:gridCol w="1386775"/>
                <a:gridCol w="1386775"/>
              </a:tblGrid>
              <a:tr h="27855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orbel"/>
                        <a:buNone/>
                      </a:pPr>
                      <a:r>
                        <a:rPr b="1" i="0" lang="en" sz="1000" u="none" strike="noStrike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BOTH PRODUCTS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 hMerge="1"/>
                <a:tc hMerge="1"/>
              </a:tr>
              <a:tr h="135075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orbel"/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 53 countries/regions</a:t>
                      </a:r>
                      <a:endParaRPr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  <a:tc hMerge="1"/>
                <a:tc hMerge="1"/>
              </a:tr>
              <a:tr h="13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Argentina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China, Hong Kong SAR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Poland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Australia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Hungary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Portugal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Austria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Iceland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Romania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Bahrain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Ireland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Saudi Arabia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Belgium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Israel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Singapore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Brazil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Italy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Slovakia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Bulgaria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Japan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Slovenia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Canada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Kuwait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Spain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Chile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Latvia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Sweden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Croatia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Lichtenstein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Switzerland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Cyprus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Lithuania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Chinese Tapei 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Czech Republic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Luxembourg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Thailand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Denmark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Macau SAR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Turkey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Estonia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Malaysia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United Arab Emirates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Finland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Malta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United Kingdom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France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Netherlands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The United States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Germany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Norway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Uruguay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Greece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Panama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000000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" name="Google Shape;64;p14"/>
          <p:cNvGraphicFramePr/>
          <p:nvPr/>
        </p:nvGraphicFramePr>
        <p:xfrm>
          <a:off x="300279" y="2723181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{C3D081B9-3B03-4A44-8910-5B5960E8EA8A}</a:tableStyleId>
              </a:tblPr>
              <a:tblGrid>
                <a:gridCol w="1907225"/>
              </a:tblGrid>
              <a:tr h="27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orbel"/>
                        <a:buNone/>
                      </a:pPr>
                      <a:r>
                        <a:rPr b="1" i="0" lang="en" sz="1000" u="none" strike="noStrike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ONLY MATERNAL VACCINATION</a:t>
                      </a:r>
                      <a:endParaRPr/>
                    </a:p>
                  </a:txBody>
                  <a:tcPr marT="16000" marB="16000" marR="24000" marL="2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</a:tr>
              <a:tr h="197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orbel"/>
                        <a:buNone/>
                      </a:pPr>
                      <a:r>
                        <a:rPr b="1" i="0" lang="en" sz="1000" u="none" strike="noStrike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1</a:t>
                      </a:r>
                      <a:r>
                        <a:rPr b="1" lang="en" sz="10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4</a:t>
                      </a:r>
                      <a:r>
                        <a:rPr b="1" i="0" lang="en" sz="1000" u="none" strike="noStrike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 countries</a:t>
                      </a:r>
                      <a:endParaRPr/>
                    </a:p>
                  </a:txBody>
                  <a:tcPr marT="16000" marB="16000" marR="24000" marL="2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</a:tr>
              <a:tr h="1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Belarus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Costa Rica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Dominican Republic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Egypt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El Salvador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Ghana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Indonesia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Mexico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Oman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Pakistan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Peru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Philippines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Qatar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South Africa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" name="Google Shape;65;p14"/>
          <p:cNvGraphicFramePr/>
          <p:nvPr/>
        </p:nvGraphicFramePr>
        <p:xfrm>
          <a:off x="2479729" y="3002796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{C3D081B9-3B03-4A44-8910-5B5960E8EA8A}</a:tableStyleId>
              </a:tblPr>
              <a:tblGrid>
                <a:gridCol w="1913400"/>
              </a:tblGrid>
              <a:tr h="284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orbel"/>
                        <a:buNone/>
                      </a:pPr>
                      <a:r>
                        <a:rPr b="1" lang="en" sz="1000">
                          <a:latin typeface="Corbel"/>
                          <a:ea typeface="Corbel"/>
                          <a:cs typeface="Corbel"/>
                          <a:sym typeface="Corbel"/>
                        </a:rPr>
                        <a:t>ONLY mAb</a:t>
                      </a:r>
                      <a:endParaRPr/>
                    </a:p>
                  </a:txBody>
                  <a:tcPr marT="15875" marB="15875" marR="23800" marL="23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1E62"/>
                    </a:solidFill>
                  </a:tcPr>
                </a:tc>
              </a:tr>
              <a:tr h="14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orbel"/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4 countries</a:t>
                      </a:r>
                      <a:endParaRPr/>
                    </a:p>
                  </a:txBody>
                  <a:tcPr marT="15875" marB="15875" marR="23800" marL="23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</a:tr>
              <a:tr h="17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China</a:t>
                      </a:r>
                      <a:endParaRPr/>
                    </a:p>
                  </a:txBody>
                  <a:tcPr marT="15875" marB="15875" marR="23800" marL="238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3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India</a:t>
                      </a:r>
                      <a:endParaRPr/>
                    </a:p>
                  </a:txBody>
                  <a:tcPr marT="15875" marB="15875" marR="23800" marL="238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7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Paraguay</a:t>
                      </a:r>
                      <a:endParaRPr/>
                    </a:p>
                  </a:txBody>
                  <a:tcPr marT="15875" marB="15875" marR="23800" marL="238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3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Republic of Korea</a:t>
                      </a:r>
                      <a:endParaRPr/>
                    </a:p>
                  </a:txBody>
                  <a:tcPr marT="15875" marB="15875" marR="23800" marL="238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" name="Google Shape;66;p14"/>
          <p:cNvGraphicFramePr/>
          <p:nvPr/>
        </p:nvGraphicFramePr>
        <p:xfrm>
          <a:off x="300280" y="963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{C3D081B9-3B03-4A44-8910-5B5960E8EA8A}</a:tableStyleId>
              </a:tblPr>
              <a:tblGrid>
                <a:gridCol w="906525"/>
                <a:gridCol w="1615975"/>
                <a:gridCol w="1568525"/>
              </a:tblGrid>
              <a:tr h="406550">
                <a:tc rowSpan="2"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orbel"/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Total countries per product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orbel"/>
                          <a:ea typeface="Corbel"/>
                          <a:cs typeface="Corbel"/>
                          <a:sym typeface="Corbel"/>
                        </a:rPr>
                        <a:t>Maternal Vaccination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orbel"/>
                          <a:ea typeface="Corbel"/>
                          <a:cs typeface="Corbel"/>
                          <a:sym typeface="Corbel"/>
                        </a:rPr>
                        <a:t>mAb</a:t>
                      </a:r>
                      <a:endParaRPr b="1" sz="12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1E62"/>
                    </a:solidFill>
                  </a:tcPr>
                </a:tc>
              </a:tr>
              <a:tr h="365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Corbel"/>
                          <a:ea typeface="Corbel"/>
                          <a:cs typeface="Corbel"/>
                          <a:sym typeface="Corbel"/>
                        </a:rPr>
                        <a:t>67 countries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Corbel"/>
                          <a:ea typeface="Corbel"/>
                          <a:cs typeface="Corbel"/>
                          <a:sym typeface="Corbel"/>
                        </a:rPr>
                        <a:t>57 countries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3316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orbel"/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Only 1 product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rbel"/>
                          <a:ea typeface="Corbel"/>
                          <a:cs typeface="Corbel"/>
                          <a:sym typeface="Corbel"/>
                        </a:rPr>
                        <a:t>14 countries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rbel"/>
                          <a:ea typeface="Corbel"/>
                          <a:cs typeface="Corbel"/>
                          <a:sym typeface="Corbel"/>
                        </a:rPr>
                        <a:t>4 countries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3209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orbel"/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Both products</a:t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Corbel"/>
                          <a:ea typeface="Corbel"/>
                          <a:cs typeface="Corbel"/>
                          <a:sym typeface="Corbel"/>
                        </a:rPr>
                        <a:t>53 countries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67" name="Google Shape;67;p14"/>
          <p:cNvSpPr txBox="1"/>
          <p:nvPr/>
        </p:nvSpPr>
        <p:spPr>
          <a:xfrm>
            <a:off x="62042" y="532364"/>
            <a:ext cx="84537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4A8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34A8A"/>
                </a:solidFill>
                <a:latin typeface="Corbel"/>
                <a:ea typeface="Corbel"/>
                <a:cs typeface="Corbel"/>
                <a:sym typeface="Corbel"/>
              </a:rPr>
              <a:t>As of June 2025, </a:t>
            </a:r>
            <a:r>
              <a:rPr b="1" lang="en" sz="1600">
                <a:latin typeface="Corbel"/>
                <a:ea typeface="Corbel"/>
                <a:cs typeface="Corbel"/>
                <a:sym typeface="Corbel"/>
              </a:rPr>
              <a:t>71</a:t>
            </a:r>
            <a:r>
              <a:rPr b="1" i="0" lang="en" sz="1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 countries/regions</a:t>
            </a:r>
            <a:r>
              <a:rPr b="1" i="0" lang="en" sz="1400" u="none" cap="none" strike="noStrike">
                <a:solidFill>
                  <a:srgbClr val="134A8A"/>
                </a:solidFill>
                <a:latin typeface="Corbel"/>
                <a:ea typeface="Corbel"/>
                <a:cs typeface="Corbel"/>
                <a:sym typeface="Corbel"/>
              </a:rPr>
              <a:t> have regulatory approval for the maternal vaccination and mAb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115081" y="-6421"/>
            <a:ext cx="90159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Global introductions of RSV immunization products to protect infants</a:t>
            </a:r>
            <a:endParaRPr sz="20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888888"/>
                </a:solidFill>
              </a:rPr>
              <a:t>‹#›</a:t>
            </a:fld>
            <a:endParaRPr sz="900">
              <a:solidFill>
                <a:srgbClr val="888888"/>
              </a:solidFill>
            </a:endParaRPr>
          </a:p>
        </p:txBody>
      </p:sp>
      <p:graphicFrame>
        <p:nvGraphicFramePr>
          <p:cNvPr id="74" name="Google Shape;74;p15"/>
          <p:cNvGraphicFramePr/>
          <p:nvPr/>
        </p:nvGraphicFramePr>
        <p:xfrm>
          <a:off x="237755" y="8904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{C3D081B9-3B03-4A44-8910-5B5960E8EA8A}</a:tableStyleId>
              </a:tblPr>
              <a:tblGrid>
                <a:gridCol w="1591000"/>
                <a:gridCol w="1517800"/>
                <a:gridCol w="1549600"/>
              </a:tblGrid>
              <a:tr h="232850">
                <a:tc rowSpan="2"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Total countries per product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FFFF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Maternal Vaccination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mAb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1E62"/>
                    </a:solidFill>
                  </a:tcPr>
                </a:tc>
              </a:tr>
              <a:tr h="2069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6 countries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12 countries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3363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Approach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2 season approach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4 year-round approach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10 (all infants)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2 (high risk only)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" name="Google Shape;75;p15"/>
          <p:cNvGraphicFramePr/>
          <p:nvPr/>
        </p:nvGraphicFramePr>
        <p:xfrm>
          <a:off x="248802" y="176108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{C3D081B9-3B03-4A44-8910-5B5960E8EA8A}</a:tableStyleId>
              </a:tblPr>
              <a:tblGrid>
                <a:gridCol w="1217025"/>
                <a:gridCol w="1362550"/>
                <a:gridCol w="2086425"/>
              </a:tblGrid>
              <a:tr h="270475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orbel"/>
                        <a:buNone/>
                      </a:pPr>
                      <a:r>
                        <a:rPr b="1" lang="en" sz="1000">
                          <a:latin typeface="Corbel"/>
                          <a:ea typeface="Corbel"/>
                          <a:cs typeface="Corbel"/>
                          <a:sym typeface="Corbel"/>
                        </a:rPr>
                        <a:t>BOTH PRODUCTS</a:t>
                      </a:r>
                      <a:endParaRPr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 hMerge="1"/>
                <a:tc hMerge="1"/>
              </a:tr>
              <a:tr h="7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Country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Primary Product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Approach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</a:tr>
              <a:tr h="12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Australia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Maternal Vaccination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Year-round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10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Belgium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mAb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0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France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0" i="0" lang="en" sz="800" u="none" strike="noStrike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mAb</a:t>
                      </a:r>
                      <a:endParaRPr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0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Luxembourg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0" i="0" lang="en" sz="800" u="none" strike="noStrike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mAb</a:t>
                      </a:r>
                      <a:endParaRPr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7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Switzerland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0" i="0" lang="en" sz="800" u="none" strike="noStrike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mAb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0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United States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0" i="0" lang="en" sz="800" u="none" strike="noStrike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mAb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Google Shape;76;p15"/>
          <p:cNvGraphicFramePr/>
          <p:nvPr/>
        </p:nvGraphicFramePr>
        <p:xfrm>
          <a:off x="5132752" y="3253628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{C3D081B9-3B03-4A44-8910-5B5960E8EA8A}</a:tableStyleId>
              </a:tblPr>
              <a:tblGrid>
                <a:gridCol w="1631600"/>
                <a:gridCol w="1863425"/>
              </a:tblGrid>
              <a:tr h="2966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orbel"/>
                        <a:buNone/>
                      </a:pPr>
                      <a:r>
                        <a:rPr b="1" lang="en" sz="1000">
                          <a:latin typeface="Corbel"/>
                          <a:ea typeface="Corbel"/>
                          <a:cs typeface="Corbel"/>
                          <a:sym typeface="Corbel"/>
                        </a:rPr>
                        <a:t>ONLY MATERNAL VACCINATION</a:t>
                      </a:r>
                      <a:endParaRPr/>
                    </a:p>
                  </a:txBody>
                  <a:tcPr marT="18400" marB="18400" marR="27625" marL="2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 hMerge="1"/>
              </a:tr>
              <a:tr h="93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Country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Approach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</a:tr>
              <a:tr h="12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Argentina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Seasonal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BF7"/>
                    </a:solidFill>
                  </a:tcPr>
                </a:tc>
              </a:tr>
              <a:tr h="12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Costa Rica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Year-round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12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Poland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Year-round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12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Slovenia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Year-round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12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United Kingdom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Year-round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8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Uruguay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Seasonal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Google Shape;77;p15"/>
          <p:cNvGraphicFramePr/>
          <p:nvPr/>
        </p:nvGraphicFramePr>
        <p:xfrm>
          <a:off x="5139137" y="868156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{C3D081B9-3B03-4A44-8910-5B5960E8EA8A}</a:tableStyleId>
              </a:tblPr>
              <a:tblGrid>
                <a:gridCol w="1596700"/>
                <a:gridCol w="1887925"/>
              </a:tblGrid>
              <a:tr h="2966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orbel"/>
                        <a:buNone/>
                      </a:pPr>
                      <a:r>
                        <a:rPr b="1" lang="en" sz="1000">
                          <a:latin typeface="Corbel"/>
                          <a:ea typeface="Corbel"/>
                          <a:cs typeface="Corbel"/>
                          <a:sym typeface="Corbel"/>
                        </a:rPr>
                        <a:t>ONLY mAb</a:t>
                      </a:r>
                      <a:endParaRPr/>
                    </a:p>
                  </a:txBody>
                  <a:tcPr marT="18400" marB="18400" marR="27625" marL="2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1E62"/>
                    </a:solidFill>
                  </a:tcPr>
                </a:tc>
                <a:tc hMerge="1"/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Country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Approach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Austria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Brazil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High risk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A5C4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Canada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Chile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Finland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Germany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Ireland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Italy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Japan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High risk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A5C4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Paraguay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Portugal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Spain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</a:tbl>
          </a:graphicData>
        </a:graphic>
      </p:graphicFrame>
      <p:sp>
        <p:nvSpPr>
          <p:cNvPr id="78" name="Google Shape;78;p15"/>
          <p:cNvSpPr txBox="1"/>
          <p:nvPr/>
        </p:nvSpPr>
        <p:spPr>
          <a:xfrm>
            <a:off x="-692418" y="411309"/>
            <a:ext cx="85956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4A8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34A8A"/>
                </a:solidFill>
                <a:latin typeface="Corbel"/>
                <a:ea typeface="Corbel"/>
                <a:cs typeface="Corbel"/>
                <a:sym typeface="Corbel"/>
              </a:rPr>
              <a:t>As of June 2025, </a:t>
            </a:r>
            <a:r>
              <a:rPr b="1" i="0" lang="en" sz="1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24 countries</a:t>
            </a:r>
            <a:r>
              <a:rPr b="1" i="0" lang="en" sz="1400" u="none" cap="none" strike="noStrike">
                <a:solidFill>
                  <a:srgbClr val="134A8A"/>
                </a:solidFill>
                <a:latin typeface="Corbel"/>
                <a:ea typeface="Corbel"/>
                <a:cs typeface="Corbel"/>
                <a:sym typeface="Corbel"/>
              </a:rPr>
              <a:t> have introduced the maternal vaccination </a:t>
            </a:r>
            <a:r>
              <a:rPr b="1" i="0" lang="en" sz="1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and/or</a:t>
            </a:r>
            <a:r>
              <a:rPr b="1" i="0" lang="en" sz="1400" u="none" cap="none" strike="noStrike">
                <a:solidFill>
                  <a:srgbClr val="134A8A"/>
                </a:solidFill>
                <a:latin typeface="Corbel"/>
                <a:ea typeface="Corbel"/>
                <a:cs typeface="Corbel"/>
                <a:sym typeface="Corbel"/>
              </a:rPr>
              <a:t> the mAb</a:t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238432" y="4871367"/>
            <a:ext cx="46737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28282"/>
                </a:solidFill>
                <a:latin typeface="Corbel"/>
                <a:ea typeface="Corbel"/>
                <a:cs typeface="Corbel"/>
                <a:sym typeface="Corbel"/>
              </a:rPr>
              <a:t>*Disclaimer: "All infants" category used in this presentation encompasses varying age ranges depending on country-level introduction (e.g., &lt;6 months, &lt;8 months). For the purpose of simplification and consistency, all have been collectively categorized as "all infants."</a:t>
            </a:r>
            <a:endParaRPr/>
          </a:p>
        </p:txBody>
      </p:sp>
      <p:graphicFrame>
        <p:nvGraphicFramePr>
          <p:cNvPr id="80" name="Google Shape;80;p15"/>
          <p:cNvGraphicFramePr/>
          <p:nvPr/>
        </p:nvGraphicFramePr>
        <p:xfrm>
          <a:off x="1180059" y="3352196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{C3D081B9-3B03-4A44-8910-5B5960E8EA8A}</a:tableStyleId>
              </a:tblPr>
              <a:tblGrid>
                <a:gridCol w="995900"/>
                <a:gridCol w="1609175"/>
              </a:tblGrid>
              <a:tr h="71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3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orbel"/>
                        <a:buNone/>
                      </a:pPr>
                      <a:r>
                        <a:rPr b="1" lang="en" sz="6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Product</a:t>
                      </a:r>
                      <a:endParaRPr/>
                    </a:p>
                  </a:txBody>
                  <a:tcPr marT="20100" marB="20100" marR="30150" marL="301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3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orbel"/>
                        <a:buNone/>
                      </a:pPr>
                      <a:r>
                        <a:rPr lang="en" sz="6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Approach</a:t>
                      </a:r>
                      <a:endParaRPr/>
                    </a:p>
                  </a:txBody>
                  <a:tcPr marT="20100" marB="20100" marR="30150" marL="301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63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orbel"/>
                        <a:buNone/>
                      </a:pPr>
                      <a:r>
                        <a:rPr b="1" lang="en" sz="6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Maternal Vaccination</a:t>
                      </a:r>
                      <a:endParaRPr sz="600">
                        <a:solidFill>
                          <a:srgbClr val="000000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20100" marB="20100" marR="30150" marL="301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3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orbel"/>
                        <a:buNone/>
                      </a:pPr>
                      <a:r>
                        <a:rPr lang="en" sz="6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Seasonal</a:t>
                      </a:r>
                      <a:endParaRPr/>
                    </a:p>
                  </a:txBody>
                  <a:tcPr marT="20100" marB="20100" marR="30150" marL="301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BF7"/>
                    </a:solidFill>
                  </a:tcPr>
                </a:tc>
              </a:tr>
              <a:tr h="7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63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orbel"/>
                        <a:buNone/>
                      </a:pPr>
                      <a:r>
                        <a:rPr b="1" lang="en" sz="6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Maternal Vaccination</a:t>
                      </a:r>
                      <a:endParaRPr sz="600">
                        <a:solidFill>
                          <a:srgbClr val="000000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20100" marB="20100" marR="30150" marL="301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3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orbel"/>
                        <a:buNone/>
                      </a:pPr>
                      <a:r>
                        <a:rPr lang="en" sz="6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Year-round</a:t>
                      </a:r>
                      <a:endParaRPr/>
                    </a:p>
                  </a:txBody>
                  <a:tcPr marT="20100" marB="20100" marR="30150" marL="301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</a:tr>
              <a:tr h="7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63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orbel"/>
                        <a:buNone/>
                      </a:pPr>
                      <a:r>
                        <a:rPr b="1" lang="en" sz="6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mAb</a:t>
                      </a:r>
                      <a:endParaRPr/>
                    </a:p>
                  </a:txBody>
                  <a:tcPr marT="20100" marB="20100" marR="30150" marL="301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3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orbel"/>
                        <a:buNone/>
                      </a:pPr>
                      <a:r>
                        <a:rPr lang="en" sz="6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infants*</a:t>
                      </a:r>
                      <a:endParaRPr/>
                    </a:p>
                  </a:txBody>
                  <a:tcPr marT="20100" marB="20100" marR="30150" marL="301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7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63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orbel"/>
                        <a:buNone/>
                      </a:pPr>
                      <a:r>
                        <a:rPr b="1" lang="en" sz="6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mAb</a:t>
                      </a:r>
                      <a:endParaRPr/>
                    </a:p>
                  </a:txBody>
                  <a:tcPr marT="20100" marB="20100" marR="30150" marL="301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3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orbel"/>
                        <a:buNone/>
                      </a:pPr>
                      <a:r>
                        <a:rPr lang="en" sz="6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High risk</a:t>
                      </a:r>
                      <a:endParaRPr/>
                    </a:p>
                  </a:txBody>
                  <a:tcPr marT="20100" marB="20100" marR="30150" marL="301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A5C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